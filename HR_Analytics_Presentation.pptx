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5A5B"/>
          </a:solidFill>
          <a:ln>
            <a:solidFill>
              <a:srgbClr val="005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200" b="1">
                <a:solidFill>
                  <a:srgbClr val="005A5B"/>
                </a:solidFill>
                <a:latin typeface="Arial"/>
              </a:rPr>
              <a:t>Building a Data-Driven Retention Architecture</a:t>
            </a:r>
          </a:p>
          <a:p>
            <a:pPr>
              <a:spcAft>
                <a:spcPts val="4000"/>
              </a:spcAft>
            </a:pPr>
            <a:r>
              <a:rPr sz="1400" b="0">
                <a:solidFill>
                  <a:srgbClr val="2D3748"/>
                </a:solidFill>
                <a:latin typeface="Arial"/>
              </a:rPr>
              <a:t>System Quality Engineering, Advanced Machine Learning Readiness, and Predictive Attrition Modeling on the IBM HR Framework</a:t>
            </a:r>
          </a:p>
          <a:p>
            <a:r>
              <a:rPr sz="1100" b="1">
                <a:solidFill>
                  <a:srgbClr val="2D3748"/>
                </a:solidFill>
                <a:latin typeface="Arial"/>
              </a:rPr>
              <a:t>DAT-602 Senior Capstone Data Analytics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5A5B"/>
                </a:solidFill>
                <a:latin typeface="Arial"/>
              </a:rPr>
              <a:t>Project Scope &amp; Strategic Analytical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5A5B"/>
                </a:solidFill>
                <a:latin typeface="Arial"/>
              </a:rPr>
              <a:t>Strategic Core Framework: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D3748"/>
                </a:solidFill>
                <a:latin typeface="Arial"/>
              </a:rPr>
              <a:t>• Data Quality Assurance: Execute comprehensive verification across 1,470 operational records.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D3748"/>
                </a:solidFill>
                <a:latin typeface="Arial"/>
              </a:rPr>
              <a:t>• Optimization: Address class imbalance biases and mitigate multi-variable correlation hazards.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2D3748"/>
                </a:solidFill>
                <a:latin typeface="Arial"/>
              </a:rPr>
              <a:t>• Actionable Management Impact: Convert complex statistical findings into practical corporate policy recommendations.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05A5B"/>
                </a:solidFill>
                <a:latin typeface="Arial"/>
              </a:rPr>
              <a:t>System Operational Target:</a:t>
            </a:r>
          </a:p>
          <a:p>
            <a:r>
              <a:rPr sz="1300" b="0">
                <a:solidFill>
                  <a:srgbClr val="2D3748"/>
                </a:solidFill>
                <a:latin typeface="Arial"/>
              </a:rPr>
              <a:t>The system is built to provide an analytical tool that bridges raw human resource data collection with predictive planning, minimizing unexpected turnover of critical company personnel.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5A5B"/>
                </a:solidFill>
                <a:latin typeface="Arial"/>
              </a:rPr>
              <a:t>Dataset Structural Overview &amp; Ingest Profiling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1828800" cy="1828800"/>
          </a:xfrm>
          <a:prstGeom prst="rect">
            <a:avLst/>
          </a:prstGeom>
          <a:solidFill>
            <a:srgbClr val="005A5B"/>
          </a:solidFill>
          <a:ln>
            <a:solidFill>
              <a:srgbClr val="005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1,470</a:t>
            </a:r>
          </a:p>
          <a:p>
            <a:pPr algn="ctr"/>
            <a:r>
              <a:rPr sz="1100" b="0">
                <a:solidFill>
                  <a:srgbClr val="F0F7F7"/>
                </a:solidFill>
                <a:latin typeface="Arial"/>
              </a:rPr>
              <a:t>Total Employee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2011680"/>
            <a:ext cx="1828800" cy="1828800"/>
          </a:xfrm>
          <a:prstGeom prst="rect">
            <a:avLst/>
          </a:prstGeom>
          <a:solidFill>
            <a:srgbClr val="005A5B"/>
          </a:solidFill>
          <a:ln>
            <a:solidFill>
              <a:srgbClr val="005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35</a:t>
            </a:r>
          </a:p>
          <a:p>
            <a:pPr algn="ctr"/>
            <a:r>
              <a:rPr sz="1100" b="0">
                <a:solidFill>
                  <a:srgbClr val="F0F7F7"/>
                </a:solidFill>
                <a:latin typeface="Arial"/>
              </a:rPr>
              <a:t>Independent Columns Ingested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2011680"/>
            <a:ext cx="1828800" cy="1828800"/>
          </a:xfrm>
          <a:prstGeom prst="rect">
            <a:avLst/>
          </a:prstGeom>
          <a:solidFill>
            <a:srgbClr val="005A5B"/>
          </a:solidFill>
          <a:ln>
            <a:solidFill>
              <a:srgbClr val="005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26 / 9</a:t>
            </a:r>
          </a:p>
          <a:p>
            <a:pPr algn="ctr"/>
            <a:r>
              <a:rPr sz="1100" b="0">
                <a:solidFill>
                  <a:srgbClr val="F0F7F7"/>
                </a:solidFill>
                <a:latin typeface="Arial"/>
              </a:rPr>
              <a:t>Numerical / Categorical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2011680"/>
            <a:ext cx="1828800" cy="1828800"/>
          </a:xfrm>
          <a:prstGeom prst="rect">
            <a:avLst/>
          </a:prstGeom>
          <a:solidFill>
            <a:srgbClr val="005A5B"/>
          </a:solidFill>
          <a:ln>
            <a:solidFill>
              <a:srgbClr val="005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16.12%</a:t>
            </a:r>
          </a:p>
          <a:p>
            <a:pPr algn="ctr"/>
            <a:r>
              <a:rPr sz="1100" b="0">
                <a:solidFill>
                  <a:srgbClr val="F0F7F7"/>
                </a:solidFill>
                <a:latin typeface="Arial"/>
              </a:rPr>
              <a:t>Global Attrition Rate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748"/>
                </a:solidFill>
                <a:latin typeface="Arial"/>
              </a:rPr>
              <a:t>Analysis Insights: High variance features are concentrated primarily within compensation parameters (MonthlyRate standard deviation reaches 7,117.78). This confirms that features must be standardized to protect distance-based distance algorithms from scale bias.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5A5B"/>
                </a:solidFill>
                <a:latin typeface="Arial"/>
              </a:rPr>
              <a:t>Data Engineering Quality Audit &amp; Completeness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3657600" cy="438912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</a:pPr>
            <a:r>
              <a:rPr sz="4800" b="1">
                <a:solidFill>
                  <a:srgbClr val="005A5B"/>
                </a:solidFill>
                <a:latin typeface="Arial"/>
              </a:rPr>
              <a:t>91.43%</a:t>
            </a:r>
          </a:p>
          <a:p>
            <a:pPr algn="ctr"/>
            <a:r>
              <a:rPr sz="1400" b="1">
                <a:solidFill>
                  <a:srgbClr val="2D3748"/>
                </a:solidFill>
                <a:latin typeface="Arial"/>
              </a:rPr>
              <a:t>Calculated Quality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7132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300" b="0">
                <a:solidFill>
                  <a:srgbClr val="2D3748"/>
                </a:solidFill>
                <a:latin typeface="Arial"/>
              </a:rPr>
              <a:t>Database Completeness Metrics: Verified 100% data presence. Found 0 missing elements and 0 row-wise duplicate profiles.</a:t>
            </a:r>
          </a:p>
          <a:p>
            <a:pPr>
              <a:spcAft>
                <a:spcPts val="2000"/>
              </a:spcAft>
            </a:pPr>
            <a:r>
              <a:rPr sz="1300" b="0">
                <a:solidFill>
                  <a:srgbClr val="2D3748"/>
                </a:solidFill>
                <a:latin typeface="Arial"/>
              </a:rPr>
              <a:t>Logical Assertion Check: The dataset successfully passed all business validation checks (e.g., Age &gt;= 18, Company Tenure &lt;= Total Career Working Years).</a:t>
            </a:r>
          </a:p>
          <a:p>
            <a:pPr>
              <a:spcAft>
                <a:spcPts val="2000"/>
              </a:spcAft>
            </a:pPr>
            <a:r>
              <a:rPr sz="1300" b="0">
                <a:solidFill>
                  <a:srgbClr val="2D3748"/>
                </a:solidFill>
                <a:latin typeface="Arial"/>
              </a:rPr>
              <a:t>Structural Variance Filters: Identified and dropped 3 dead constant columns that offered zero predictive information (EmployeeCount, Over18, StandardHours).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5A5B"/>
                </a:solidFill>
                <a:latin typeface="Arial"/>
              </a:rPr>
              <a:t>Outlier Identification Profiles &amp; Capping Treatment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05A5B"/>
                </a:solidFill>
                <a:latin typeface="Arial"/>
              </a:rPr>
              <a:t>Interquartile Range (IQR) Analysis: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D3748"/>
                </a:solidFill>
                <a:latin typeface="Arial"/>
              </a:rPr>
              <a:t>• Compensation Anomalies: The IQR method flagged 114 executive profiles with high-magnitude earnings above the $16,581 fence boundary.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D3748"/>
                </a:solidFill>
                <a:latin typeface="Arial"/>
              </a:rPr>
              <a:t>• Tenure Distribution Anomalies: Flagged 104 records showing extended company tenure past historical norms.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2D3748"/>
                </a:solidFill>
                <a:latin typeface="Arial"/>
              </a:rPr>
              <a:t>• Process Treatment: Retained all flagged entries to preserve critical executive data, applying soft capping (Winsorization) to limit tail volatility.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45920"/>
            <a:ext cx="5303520" cy="438912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5A5B"/>
                </a:solidFill>
                <a:latin typeface="Arial"/>
              </a:rPr>
              <a:t>[Distribution Density Mapping: Raw Skew vs. Winsorized Cap]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5A5B"/>
                </a:solidFill>
                <a:latin typeface="Arial"/>
              </a:rPr>
              <a:t>Volatilities: Overtime Pressure &amp; Frontline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5A5B"/>
                </a:solidFill>
                <a:latin typeface="Arial"/>
              </a:rPr>
              <a:t>Insight 1: The Overtime Retention Burden</a:t>
            </a:r>
          </a:p>
          <a:p>
            <a:pPr>
              <a:spcAft>
                <a:spcPts val="1800"/>
              </a:spcAft>
            </a:pPr>
            <a:r>
              <a:rPr sz="1200" b="0">
                <a:solidFill>
                  <a:srgbClr val="2D3748"/>
                </a:solidFill>
                <a:latin typeface="Arial"/>
              </a:rPr>
              <a:t>Employees working overtime show an elevated attrition rate of 30.63% (127 / 416), compared to just 10.44% for peers on regular hours. Extended workloads serve as a primary indicator of burnout.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5A5B"/>
                </a:solidFill>
                <a:latin typeface="Arial"/>
              </a:rPr>
              <a:t>Insight 2: Operational Role Vulnerabilities</a:t>
            </a:r>
          </a:p>
          <a:p>
            <a:pPr>
              <a:spcAft>
                <a:spcPts val="1800"/>
              </a:spcAft>
            </a:pPr>
            <a:r>
              <a:rPr sz="1200" b="0">
                <a:solidFill>
                  <a:srgbClr val="2D3748"/>
                </a:solidFill>
                <a:latin typeface="Arial"/>
              </a:rPr>
              <a:t>Relying on broad department averages can hide critical role risks. Frontline execution roles experience severe turnover pressure, with Sales Representatives facing an alarming 39.76% attrition rate.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45920"/>
            <a:ext cx="5303520" cy="438912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5A5B"/>
                </a:solidFill>
                <a:latin typeface="Arial"/>
              </a:rPr>
              <a:t>[Bivariate Segmentation Bar Chart: Attrition Inversion by Job Role]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5A5B"/>
                </a:solidFill>
                <a:latin typeface="Arial"/>
              </a:rPr>
              <a:t>Volatilities: Financial Triggers &amp; Career Stagnation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5A5B"/>
                </a:solidFill>
                <a:latin typeface="Arial"/>
              </a:rPr>
              <a:t>[Attrition Probability Curve mapping MonthlyIncome and Equity Options]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05A5B"/>
                </a:solidFill>
                <a:latin typeface="Arial"/>
              </a:rPr>
              <a:t>Insight 3: The Base Compensation Retention Floor</a:t>
            </a:r>
          </a:p>
          <a:p>
            <a:pPr>
              <a:spcAft>
                <a:spcPts val="1800"/>
              </a:spcAft>
            </a:pPr>
            <a:r>
              <a:rPr sz="1200" b="0">
                <a:solidFill>
                  <a:srgbClr val="2D3748"/>
                </a:solidFill>
                <a:latin typeface="Arial"/>
              </a:rPr>
              <a:t>Junior employees earning under $2,500/month experience a high attrition rate of 31.84%. Turnover stabilizes to 11.23% once pay crosses $5,000, pointing to competitive market compensation gaps.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5A5B"/>
                </a:solidFill>
                <a:latin typeface="Arial"/>
              </a:rPr>
              <a:t>Insight 4: Mid-Career Progression Stagnation</a:t>
            </a:r>
          </a:p>
          <a:p>
            <a:pPr>
              <a:spcAft>
                <a:spcPts val="1800"/>
              </a:spcAft>
            </a:pPr>
            <a:r>
              <a:rPr sz="1200" b="0">
                <a:solidFill>
                  <a:srgbClr val="2D3748"/>
                </a:solidFill>
                <a:latin typeface="Arial"/>
              </a:rPr>
              <a:t>Job Level 2 employees going more than 3 consecutive years without a promotion show an attrition rate of 26.41%, indicating a clear link between delayed advancement and employee departures.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5A5B"/>
                </a:solidFill>
                <a:latin typeface="Arial"/>
              </a:rPr>
              <a:t>Feature Preprocessing &amp; Matrix Pipeline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566160" cy="420624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1500" b="1">
                <a:solidFill>
                  <a:srgbClr val="005A5B"/>
                </a:solidFill>
                <a:latin typeface="Arial"/>
              </a:rPr>
              <a:t>Nominal Encodings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D3748"/>
                </a:solidFill>
                <a:latin typeface="Arial"/>
              </a:rPr>
              <a:t>Applies multi-category One-Hot Encoding to categorical fields (JobRole, Department) while dropping the initial dummy columns to eliminate variable redundancy.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828800"/>
            <a:ext cx="3566160" cy="420624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1500" b="1">
                <a:solidFill>
                  <a:srgbClr val="005A5B"/>
                </a:solidFill>
                <a:latin typeface="Arial"/>
              </a:rPr>
              <a:t>Skewness Corrections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D3748"/>
                </a:solidFill>
                <a:latin typeface="Arial"/>
              </a:rPr>
              <a:t>Identifies continuous vectors with heavy right-skews (MonthlyIncome, YearsAtCompany) and applies an x_new = log(x + 1) transform to normalize distributions.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828800"/>
            <a:ext cx="3566160" cy="420624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1500" b="1">
                <a:solidFill>
                  <a:srgbClr val="005A5B"/>
                </a:solidFill>
                <a:latin typeface="Arial"/>
              </a:rPr>
              <a:t>Z-Score Scaling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2D3748"/>
                </a:solidFill>
                <a:latin typeface="Arial"/>
              </a:rPr>
              <a:t>Applies uniform StandardScaler formatting across the final numeric array, aligning features around a zero mean and unit variance (u=0, o=1).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5A5B"/>
                </a:solidFill>
                <a:latin typeface="Arial"/>
              </a:rPr>
              <a:t>Predictive Pipeline Architecture &amp;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05A5B"/>
                </a:solidFill>
                <a:latin typeface="Arial"/>
              </a:rPr>
              <a:t>Mathematical Pipeline Alignment: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2D3748"/>
                </a:solidFill>
                <a:latin typeface="Arial"/>
              </a:rPr>
              <a:t>• Imbalance Remediation: Applies SMOTE oversampling exclusively within cross-validation folds to fix the skewed 5.2:1 target imbalance.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2D3748"/>
                </a:solidFill>
                <a:latin typeface="Arial"/>
              </a:rPr>
              <a:t>• Multicollinearity Pruning: Drops JobLevel and redundant tenure fields to reduce variance inflation factors (VIF &lt; 2.2).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2D3748"/>
                </a:solidFill>
                <a:latin typeface="Arial"/>
              </a:rPr>
              <a:t>• Selected Estimators: Deploys LightGBM and XGBoost tree ensembles optimized against PR-AUC and F1-score targets rather than global accuracy.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0" y="1645920"/>
            <a:ext cx="5029200" cy="438912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5A5B"/>
                </a:solidFill>
                <a:latin typeface="Arial"/>
              </a:rPr>
              <a:t>[Flowchart Schematic: Raw Extraction -&gt; SMOTE Split -&gt; LightGBM Evaluation]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5A5B"/>
                </a:solidFill>
                <a:latin typeface="Arial"/>
              </a:rPr>
              <a:t>Strategic Management Actions &amp; Policy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1277295" cy="128016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5A5B"/>
                </a:solidFill>
                <a:latin typeface="Arial"/>
              </a:rPr>
              <a:t>1. Workload Governance</a:t>
            </a:r>
          </a:p>
          <a:p>
            <a:r>
              <a:rPr sz="1100" b="0">
                <a:solidFill>
                  <a:srgbClr val="2D3748"/>
                </a:solidFill>
                <a:latin typeface="Arial"/>
              </a:rPr>
              <a:t>Implement system-wide alerts that cap mandatory overtime hours for operational staff. If a position requires consistent overtime, trigger an automated review to open a new role and distribute the workload.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00400"/>
            <a:ext cx="11277295" cy="128016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5A5B"/>
                </a:solidFill>
                <a:latin typeface="Arial"/>
              </a:rPr>
              <a:t>2. Base Compensation Review</a:t>
            </a:r>
          </a:p>
          <a:p>
            <a:r>
              <a:rPr sz="1100" b="0">
                <a:solidFill>
                  <a:srgbClr val="2D3748"/>
                </a:solidFill>
                <a:latin typeface="Arial"/>
              </a:rPr>
              <a:t>Raise the entry-level salary floor for vulnerable high-attrition roles (Sales Representatives, Lab Technicians) to a standard minimum of $3,200/month to mitigate the early-career turnover cliff.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0"/>
            <a:ext cx="11277295" cy="1280160"/>
          </a:xfrm>
          <a:prstGeom prst="rect">
            <a:avLst/>
          </a:prstGeom>
          <a:solidFill>
            <a:srgbClr val="F0F7F7"/>
          </a:solidFill>
          <a:ln>
            <a:solidFill>
              <a:srgbClr val="F0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5A5B"/>
                </a:solidFill>
                <a:latin typeface="Arial"/>
              </a:rPr>
              <a:t>3. Commute Flexibility Models</a:t>
            </a:r>
          </a:p>
          <a:p>
            <a:r>
              <a:rPr sz="1100" b="0">
                <a:solidFill>
                  <a:srgbClr val="2D3748"/>
                </a:solidFill>
                <a:latin typeface="Arial"/>
              </a:rPr>
              <a:t>Introduce structured hybrid remote work policies for positions where daily travel distance exceeds 10 miles, directly addressing commute fatigue.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